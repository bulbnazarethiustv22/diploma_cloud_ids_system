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hhw0QT+Q+RAcQ0/KHMk/YjMqq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17491cc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e17491cc2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17491cc2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e17491cc27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7491cc2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e17491cc2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7491cc2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e17491cc27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ий слайд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і об’єкт" showMasterSp="0">
  <p:cSld name="Заголовок і об’єкт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0" y="6176962"/>
            <a:ext cx="12192000" cy="681355"/>
          </a:xfrm>
          <a:custGeom>
            <a:rect b="b" l="l" r="r" t="t"/>
            <a:pathLst>
              <a:path extrusionOk="0" h="681354" w="12192000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177" y="117594"/>
            <a:ext cx="924520" cy="135006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/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’єкти">
  <p:cSld name="Два об’єкти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ише заголовок">
  <p:cSld name="Лише заголовок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">
  <p:cSld name="Пустий слайд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333413"/>
            <a:ext cx="12192000" cy="525145"/>
          </a:xfrm>
          <a:custGeom>
            <a:rect b="b" l="l" r="r" t="t"/>
            <a:pathLst>
              <a:path extrusionOk="0" h="525145" w="12192000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0" y="6333401"/>
            <a:ext cx="12192000" cy="525145"/>
          </a:xfrm>
          <a:custGeom>
            <a:rect b="b" l="l" r="r" t="t"/>
            <a:pathLst>
              <a:path extrusionOk="0" h="525145" w="12192000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noFill/>
          <a:ln cap="flat" cmpd="sng" w="9525">
            <a:solidFill>
              <a:srgbClr val="1C3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0" y="0"/>
            <a:ext cx="12192000" cy="1206500"/>
          </a:xfrm>
          <a:custGeom>
            <a:rect b="b" l="l" r="r" t="t"/>
            <a:pathLst>
              <a:path extrusionOk="0" h="1206500" w="121920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4"/>
          <p:cNvSpPr/>
          <p:nvPr/>
        </p:nvSpPr>
        <p:spPr>
          <a:xfrm>
            <a:off x="0" y="0"/>
            <a:ext cx="12192000" cy="1206500"/>
          </a:xfrm>
          <a:custGeom>
            <a:rect b="b" l="l" r="r" t="t"/>
            <a:pathLst>
              <a:path extrusionOk="0" h="1206500" w="121920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noFill/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7204" y="55999"/>
            <a:ext cx="731591" cy="10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/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" type="body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225286" y="1726804"/>
            <a:ext cx="11673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uk-UA" sz="4000"/>
            </a:br>
            <a:br>
              <a:rPr b="1" lang="uk-UA" sz="4000"/>
            </a:br>
            <a:r>
              <a:rPr b="1" lang="uk-UA" sz="2400"/>
              <a:t>“Розробка програмного забезпечення інтелектуальної системи детекції несанкціонованого доступу до хмарних даних із використанням машинного навчання”</a:t>
            </a:r>
            <a:br>
              <a:rPr b="1" lang="uk-UA" sz="4000"/>
            </a:br>
            <a:br>
              <a:rPr b="1" lang="uk-UA" sz="4000"/>
            </a:br>
            <a:r>
              <a:rPr lang="uk-UA" sz="3200" u="sng"/>
              <a:t>Виконав:</a:t>
            </a:r>
            <a:r>
              <a:rPr lang="uk-UA" sz="3200"/>
              <a:t> студент групи ТВ-22 Бульботко Назар Вікторович </a:t>
            </a:r>
            <a:r>
              <a:rPr lang="uk-UA" sz="3200" u="sng"/>
              <a:t>Керівник:</a:t>
            </a:r>
            <a:r>
              <a:rPr lang="uk-UA" sz="3200"/>
              <a:t> к.т.н., доцент Шуклін Герман Вікторович</a:t>
            </a:r>
            <a:br>
              <a:rPr lang="uk-UA" sz="3200"/>
            </a:br>
            <a:endParaRPr sz="3200"/>
          </a:p>
        </p:txBody>
      </p:sp>
      <p:sp>
        <p:nvSpPr>
          <p:cNvPr id="57" name="Google Shape;57;p1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225288" y="1170603"/>
            <a:ext cx="116619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uk-UA" sz="3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Навчально-науковий інститут атомної та теплової енергетики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uk-UA" sz="3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Кафедра інженерії програмного забезпечення в енергетиці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uk-UA" sz="3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Дипломна робота</a:t>
            </a:r>
            <a:endParaRPr b="1" i="0" sz="31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1158330" y="6350230"/>
            <a:ext cx="10071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ctrTitle"/>
          </p:nvPr>
        </p:nvSpPr>
        <p:spPr>
          <a:xfrm>
            <a:off x="1505475" y="1210200"/>
            <a:ext cx="918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uk-UA" sz="3200">
                <a:solidFill>
                  <a:srgbClr val="002060"/>
                </a:solidFill>
              </a:rPr>
              <a:t>Актуальність теми дослідження</a:t>
            </a:r>
            <a:br>
              <a:rPr lang="uk-UA">
                <a:solidFill>
                  <a:srgbClr val="002060"/>
                </a:solidFill>
              </a:rPr>
            </a:br>
            <a:endParaRPr/>
          </a:p>
        </p:txBody>
      </p:sp>
      <p:sp>
        <p:nvSpPr>
          <p:cNvPr id="65" name="Google Shape;65;p2"/>
          <p:cNvSpPr txBox="1"/>
          <p:nvPr>
            <p:ph idx="1" type="subTitle"/>
          </p:nvPr>
        </p:nvSpPr>
        <p:spPr>
          <a:xfrm>
            <a:off x="0" y="1803224"/>
            <a:ext cx="84387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</a:pPr>
            <a:r>
              <a:rPr lang="uk-UA">
                <a:solidFill>
                  <a:srgbClr val="002060"/>
                </a:solidFill>
              </a:rPr>
              <a:t>Хмарні технології стали основним способом зберігання даних як підприємствами, так і звичайними користувачами;</a:t>
            </a:r>
            <a:endParaRPr>
              <a:solidFill>
                <a:srgbClr val="002060"/>
              </a:solidFill>
            </a:endParaRPr>
          </a:p>
          <a:p>
            <a:pPr indent="-3810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</a:pPr>
            <a:r>
              <a:rPr lang="uk-UA">
                <a:solidFill>
                  <a:srgbClr val="002060"/>
                </a:solidFill>
              </a:rPr>
              <a:t>Зі зростанням обсягів даних збільшується і кількість спроб несанкціонованого доступу;</a:t>
            </a:r>
            <a:endParaRPr>
              <a:solidFill>
                <a:srgbClr val="002060"/>
              </a:solidFill>
            </a:endParaRPr>
          </a:p>
          <a:p>
            <a:pPr indent="-3810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</a:pPr>
            <a:r>
              <a:rPr lang="uk-UA">
                <a:solidFill>
                  <a:srgbClr val="002060"/>
                </a:solidFill>
              </a:rPr>
              <a:t>Класичні методи захисту виявляються неефективними перед сучасними видами атак;</a:t>
            </a:r>
            <a:endParaRPr>
              <a:solidFill>
                <a:srgbClr val="002060"/>
              </a:solidFill>
            </a:endParaRPr>
          </a:p>
          <a:p>
            <a:pPr indent="-3810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</a:pPr>
            <a:r>
              <a:rPr lang="uk-UA">
                <a:solidFill>
                  <a:srgbClr val="002060"/>
                </a:solidFill>
              </a:rPr>
              <a:t>Виникає необхідність у впровадженні інтелектуальних систем, що на основі аналізу поведінки користувачів здатні виявляти аномалії та реагувати на потенційні загрози.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1158330" y="635023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525" y="1803224"/>
            <a:ext cx="3417601" cy="325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idx="1" type="subTitle"/>
          </p:nvPr>
        </p:nvSpPr>
        <p:spPr>
          <a:xfrm>
            <a:off x="4316925" y="1743175"/>
            <a:ext cx="39240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 sz="3200">
                <a:solidFill>
                  <a:srgbClr val="002060"/>
                </a:solidFill>
              </a:rPr>
              <a:t>Об’єкт дослідження</a:t>
            </a:r>
            <a:endParaRPr sz="3200"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>
                <a:solidFill>
                  <a:srgbClr val="002060"/>
                </a:solidFill>
              </a:rPr>
              <a:t>Процес виявлення та запобігання несанкціонованому доступу, який доцільно застосувати для забезпечення безпеки хмарного сховища даних. 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1158330" y="6350230"/>
            <a:ext cx="10071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>
            <p:ph idx="1" type="subTitle"/>
          </p:nvPr>
        </p:nvSpPr>
        <p:spPr>
          <a:xfrm>
            <a:off x="8240925" y="1743175"/>
            <a:ext cx="3924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 sz="3200">
                <a:solidFill>
                  <a:srgbClr val="002060"/>
                </a:solidFill>
              </a:rPr>
              <a:t>Предмет дослідження</a:t>
            </a:r>
            <a:endParaRPr sz="3200"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>
                <a:solidFill>
                  <a:srgbClr val="002060"/>
                </a:solidFill>
              </a:rPr>
              <a:t>Методи та алгоритми машинного навчання, що застосовуються для виявлення аномалій у поведінці користувачів і прийняття рішень щодо реакції системи.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7" name="Google Shape;77;p3"/>
          <p:cNvSpPr txBox="1"/>
          <p:nvPr>
            <p:ph idx="1" type="subTitle"/>
          </p:nvPr>
        </p:nvSpPr>
        <p:spPr>
          <a:xfrm>
            <a:off x="150600" y="1743175"/>
            <a:ext cx="3924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 sz="3200">
                <a:solidFill>
                  <a:srgbClr val="002060"/>
                </a:solidFill>
              </a:rPr>
              <a:t>Мета роботи</a:t>
            </a:r>
            <a:endParaRPr sz="3200"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uk-UA">
                <a:solidFill>
                  <a:srgbClr val="002060"/>
                </a:solidFill>
              </a:rPr>
              <a:t>Розробка інтелектуальної системи прийняття рішень для виявлення несанкціонованого доступу до хмарних сховищ із використанням методів машинного навчання.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7491cc27_0_0"/>
          <p:cNvSpPr txBox="1"/>
          <p:nvPr/>
        </p:nvSpPr>
        <p:spPr>
          <a:xfrm>
            <a:off x="11158330" y="635023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400">
                <a:solidFill>
                  <a:schemeClr val="lt1"/>
                </a:solidFill>
              </a:rPr>
              <a:t>4</a:t>
            </a: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e17491cc27_0_0"/>
          <p:cNvSpPr txBox="1"/>
          <p:nvPr/>
        </p:nvSpPr>
        <p:spPr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e17491cc27_0_0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550" y="1218900"/>
            <a:ext cx="7554900" cy="503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17491cc27_0_9"/>
          <p:cNvSpPr txBox="1"/>
          <p:nvPr/>
        </p:nvSpPr>
        <p:spPr>
          <a:xfrm>
            <a:off x="11158330" y="635023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400">
                <a:solidFill>
                  <a:schemeClr val="lt1"/>
                </a:solidFill>
              </a:rPr>
              <a:t>5</a:t>
            </a: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e17491cc27_0_9"/>
          <p:cNvSpPr txBox="1"/>
          <p:nvPr/>
        </p:nvSpPr>
        <p:spPr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3e17491cc27_0_9" title="photo_2026-05-13_10-39-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75" y="1243900"/>
            <a:ext cx="8852826" cy="500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7491cc27_0_24"/>
          <p:cNvSpPr txBox="1"/>
          <p:nvPr/>
        </p:nvSpPr>
        <p:spPr>
          <a:xfrm>
            <a:off x="11158330" y="635023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400">
                <a:solidFill>
                  <a:schemeClr val="lt1"/>
                </a:solidFill>
              </a:rPr>
              <a:t>6</a:t>
            </a: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e17491cc27_0_24"/>
          <p:cNvSpPr txBox="1"/>
          <p:nvPr/>
        </p:nvSpPr>
        <p:spPr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e17491cc27_0_24"/>
          <p:cNvSpPr txBox="1"/>
          <p:nvPr/>
        </p:nvSpPr>
        <p:spPr>
          <a:xfrm>
            <a:off x="2641875" y="1305550"/>
            <a:ext cx="6815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>
                <a:solidFill>
                  <a:srgbClr val="1C396E"/>
                </a:solidFill>
                <a:latin typeface="Calibri"/>
                <a:ea typeface="Calibri"/>
                <a:cs typeface="Calibri"/>
                <a:sym typeface="Calibri"/>
              </a:rPr>
              <a:t>Модель машинного навчання</a:t>
            </a:r>
            <a:endParaRPr sz="3200">
              <a:solidFill>
                <a:srgbClr val="1C39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17491cc27_0_24"/>
          <p:cNvSpPr txBox="1"/>
          <p:nvPr/>
        </p:nvSpPr>
        <p:spPr>
          <a:xfrm>
            <a:off x="143925" y="2045700"/>
            <a:ext cx="118116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призначена для виявлення аномальної поведінки користувачів на основі аналізу ознак мережевих і поведінкових даних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g3e17491cc27_0_24" title="photo_2026-05-13_10-51-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325" y="2765275"/>
            <a:ext cx="30099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e17491cc27_0_24" title="5defb367-0cc0-4537-877f-7e1ea9ca1c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213" y="2672738"/>
            <a:ext cx="4492464" cy="35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17491cc27_0_33"/>
          <p:cNvSpPr txBox="1"/>
          <p:nvPr/>
        </p:nvSpPr>
        <p:spPr>
          <a:xfrm>
            <a:off x="11158330" y="635023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-UA" sz="2400">
                <a:solidFill>
                  <a:schemeClr val="lt1"/>
                </a:solidFill>
              </a:rPr>
              <a:t>7</a:t>
            </a:r>
            <a:r>
              <a:rPr b="0" i="0" lang="uk-UA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uk-UA" sz="2400">
                <a:solidFill>
                  <a:schemeClr val="lt1"/>
                </a:solidFill>
              </a:rPr>
              <a:t>7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e17491cc27_0_33"/>
          <p:cNvSpPr txBox="1"/>
          <p:nvPr/>
        </p:nvSpPr>
        <p:spPr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НАЦІОНАЛЬНИЙ ТЕХНІЧНИЙ УНІВЕРСИТЕТ УКРАЇНИ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«КИЇВСЬКИЙ ПОЛІТЕХНІЧНИЙ ІНСТИТУТ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-UA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імені ІГОРЯ СІКОРСЬКОГО»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e17491cc27_0_33" title="4aac0bda-094c-4d75-aa02-8e04d1a494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075" y="1284425"/>
            <a:ext cx="8883650" cy="49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4">
  <a:themeElements>
    <a:clrScheme name="Офіс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2024-05-18T16:47:00Z</dcterms:created>
  <dc:creator>Olha Zalevska</dc:creator>
</cp:coreProperties>
</file>